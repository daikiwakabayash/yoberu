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E293B"/>
                </a:solidFill>
                <a:latin typeface="Hiragino Sans"/>
              </a:rPr>
              <a:t>YURUMU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  <a:latin typeface="Hiragino Sans"/>
              </a:rPr>
              <a:t>サロン向け 統合予約・顧客・経営管理プラットフォーム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Sans"/>
              </a:rPr>
              <a:t>予約 / 顧客カルテ / 勤怠 / 給与 / マーケまでオールインワン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48640" cy="2000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予約管理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6440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予約表 / 公開予約フォーム /
LINE リマインド / 自動割当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6060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606040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77063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顧客カルテ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26440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来院履歴 / 写真・動画 /
問診票 / 回数券・サブスク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2606040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2606040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770632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マスタ管理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26440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店舗 / スタッフ / メニュー /
設備 / 支払方法 / 広告費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98848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98848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勤怠・打刻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5721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Web 打刻 (GPS 1km) / シフト /
有給休暇 (1日・半休)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4498848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6552" y="4498848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4663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給与・請求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515721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業務委託費 / 諸手当 / 控除 /
残業代法定計算 / 請求書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4498848"/>
            <a:ext cx="3611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93024" y="4498848"/>
            <a:ext cx="45000" cy="169164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46634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Hiragino Sans"/>
              </a:rPr>
              <a:t>分析・マーケ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5157216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Hiragino Sans"/>
              </a:rPr>
              <a:t>売上 / 経営KPI /
媒体別 CPA・ROAS / 再来店促進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iragino Sans"/>
              </a:rPr>
              <a:t>Next.js + TypeScript + Supabase / マルチ店舗 (ブランド) 対応 / モバイル最適化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Hiragino Sans"/>
              </a:rPr>
              <a:t>機能一覧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Sans"/>
              </a:rPr>
              <a:t>現状リリース済み / すぐに使える機能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080" y="1417320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630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予約管理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予約表 (日 / 週ビュー)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公開予約ページ + 強制リンク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問診票 (CSV エクスポート)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LINE リマインド + 双方向チャット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スタッフ自動割当 / 二重予約防止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予約取り消し / キャンセル復活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1552" y="1417320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417320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630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顧客管理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顧客一覧 / 詳細 / 検索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カルテ編集 (来院ごと)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写真・動画ビフォアフ (100MB / 媒体)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回数券・サブスク (消化売上)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再来店促進 (自動メッセージ)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顧客 CSV / 商圏マップ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41732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024" y="1417320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417320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4630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マスタ管理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196596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店舗 (マルチ店舗 切替)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スタッフ (雇用形態 / 時給)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メニュー (ブランド共通 / 店舗限定)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設備 / 支払方法 / 来店経路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予約ブロック種別 / タグテンプレ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広告費 (媒体 × 月 × 店舗)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50792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080" y="4050792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50792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勤怠・シフト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99432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Web 打刻 (個人スマホ + GPS)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店舗 1km 以内のみ打刻可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出勤 / 退勤 / 休憩 / 戻り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出勤パターン + 出勤表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勤怠記録 (月次サマリ)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有給休暇 (1日 / 半休 / 法定付与)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4050792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1552" y="4050792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6552" y="4050792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40965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給与・請求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4599432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業務委託費 自動計算 (料率テーブル)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諸手当 自動付与 + 都度請求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控除 (社保 / 税 / 介護 / その他)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残業代 法定計算 (1.25/1.5/深夜/休日)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請求書 印刷 / PDF / メール送信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福利厚生マスタ (正社員共通)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4050792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024" y="4050792"/>
            <a:ext cx="35668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93024" y="4050792"/>
            <a:ext cx="45000" cy="411480"/>
          </a:xfrm>
          <a:prstGeom prst="rect">
            <a:avLst/>
          </a:prstGeom>
          <a:solidFill>
            <a:srgbClr val="C9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0965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分析・マーケ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599432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売上ダッシュボード (店舗 / スタッフ別)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経営 KPI (新規 / リピ / LTV)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マーケティング (CPA / ROAS / 入会率)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媒体別 / 月別 推移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口コミ集計 (Google / HotPepper)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9A06B"/>
                </a:solidFill>
                <a:latin typeface="Hiragino Sans"/>
              </a:rPr>
              <a:t>✓ </a:t>
            </a:r>
            <a:r>
              <a:rPr sz="1050">
                <a:solidFill>
                  <a:srgbClr val="2A2A2A"/>
                </a:solidFill>
                <a:latin typeface="Hiragino Sans"/>
              </a:rPr>
              <a:t>消化売上 (前金プランの実消費)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Hiragino Sans"/>
              </a:rPr>
              <a:t>全機能ブラウザのみで利用可 / 個人スマホからも操作可能 / Supabase 認証 + 店舗単位の権限管理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